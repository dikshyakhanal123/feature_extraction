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9" Type="http://schemas.openxmlformats.org/officeDocument/2006/relationships/notesSlide" Target="../notesSlides/notesSlide14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Project Presentation on</a:t>
            </a:r>
            <a:endParaRPr lang="en-US" sz="2800" dirty="0">
              <a:solidFill>
                <a:srgbClr val="1A1A1A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Handwritten Nepali Digit</a:t>
            </a:r>
            <a:endParaRPr lang="en-US" sz="3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Feature Extraction</a:t>
            </a:r>
            <a:endParaRPr lang="en-US" sz="3600" b="1" dirty="0">
              <a:solidFill>
                <a:srgbClr val="1A1A1A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2423160"/>
            <a:ext cx="12188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Image Processing &amp; Pattern Recognition (IPPR)</a:t>
            </a:r>
            <a:endParaRPr lang="en-US" sz="2000" dirty="0">
              <a:solidFill>
                <a:srgbClr val="595959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pic>
        <p:nvPicPr>
          <p:cNvPr id="5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796" y="2971800"/>
            <a:ext cx="1737360" cy="1993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5321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Presented By</a:t>
            </a:r>
            <a:endParaRPr lang="en-US" sz="3200" b="1" dirty="0">
              <a:solidFill>
                <a:srgbClr val="1A1A1A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 algn="l">
              <a:buNone/>
            </a:pPr>
            <a:endParaRPr lang="en-US" sz="3200" b="1" dirty="0">
              <a:solidFill>
                <a:srgbClr val="1A1A1A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585216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Dikshya Khanal</a:t>
            </a:r>
            <a:endParaRPr lang="en-US" sz="2800" dirty="0">
              <a:solidFill>
                <a:schemeClr val="tx1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0" y="55321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Submitted To</a:t>
            </a:r>
            <a:endParaRPr lang="en-US" sz="3200" b="1" dirty="0">
              <a:solidFill>
                <a:srgbClr val="1A1A1A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 algn="r">
              <a:buNone/>
            </a:pPr>
            <a:endParaRPr lang="en-US" sz="3200" b="1" dirty="0">
              <a:solidFill>
                <a:srgbClr val="1A1A1A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0" y="585216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Mamata Tharu</a:t>
            </a:r>
            <a:endParaRPr lang="en-US" sz="2800" dirty="0">
              <a:solidFill>
                <a:schemeClr val="tx1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Introduction / Background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00200"/>
            <a:ext cx="1060704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Handwritten Nepali (Devanagari) digits are widely used in forms, exams and records.</a:t>
            </a:r>
            <a:endParaRPr lang="en-US" sz="24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Recognizing them automatically is hard due to varied handwriting styles and scan quality.</a:t>
            </a:r>
            <a:endParaRPr lang="en-US" sz="24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Feature extraction converts raw digit images into structured, measurable data.</a:t>
            </a:r>
            <a:endParaRPr lang="en-US" sz="24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These features form the foundation for training a digit recognition model.</a:t>
            </a:r>
            <a:endParaRPr lang="en-US" sz="2400" dirty="0">
              <a:solidFill>
                <a:srgbClr val="1A1A1A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Objectives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00200"/>
            <a:ext cx="1060704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Build a pipeline to extract handwritten Nepali digits from scanned sheets.</a:t>
            </a:r>
            <a:endParaRPr lang="en-US" sz="24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Preprocess and normalize each digit into a clean, uniform image.</a:t>
            </a:r>
            <a:endParaRPr lang="en-US" sz="24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Extract meaningful handcrafted and gradient-based (HOG) features.</a:t>
            </a:r>
            <a:endParaRPr lang="en-US" sz="24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Produce ready-to-use feature datasets for future classifier training.</a:t>
            </a:r>
            <a:endParaRPr lang="en-US" sz="2400" dirty="0">
              <a:solidFill>
                <a:srgbClr val="1A1A1A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 Pipeline Overview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" y="283464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2728" y="2633472"/>
            <a:ext cx="402336" cy="402336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7" name="Text 4"/>
          <p:cNvSpPr/>
          <p:nvPr/>
        </p:nvSpPr>
        <p:spPr>
          <a:xfrm>
            <a:off x="1252728" y="263347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9516" y="3154680"/>
            <a:ext cx="150876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Collection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53996" y="33375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10028" y="283464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2633472"/>
            <a:ext cx="402336" cy="402336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12" name="Text 9"/>
          <p:cNvSpPr/>
          <p:nvPr/>
        </p:nvSpPr>
        <p:spPr>
          <a:xfrm>
            <a:off x="3108960" y="263347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55748" y="3154680"/>
            <a:ext cx="150876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Digit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110228" y="33375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66260" y="283464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65192" y="2633472"/>
            <a:ext cx="402336" cy="402336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17" name="Text 14"/>
          <p:cNvSpPr/>
          <p:nvPr/>
        </p:nvSpPr>
        <p:spPr>
          <a:xfrm>
            <a:off x="4965192" y="263347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411980" y="3335020"/>
            <a:ext cx="1508760" cy="825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Labeling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966460" y="33375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22492" y="283464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21424" y="2633472"/>
            <a:ext cx="402336" cy="402336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22" name="Text 19"/>
          <p:cNvSpPr/>
          <p:nvPr/>
        </p:nvSpPr>
        <p:spPr>
          <a:xfrm>
            <a:off x="6821424" y="263347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68085" y="3335020"/>
            <a:ext cx="1508760" cy="825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822692" y="33375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078724" y="283464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77656" y="2633472"/>
            <a:ext cx="402336" cy="402336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27" name="Text 24"/>
          <p:cNvSpPr/>
          <p:nvPr/>
        </p:nvSpPr>
        <p:spPr>
          <a:xfrm>
            <a:off x="8677656" y="263347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124444" y="3154680"/>
            <a:ext cx="150876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Feature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9678924" y="33375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934956" y="283464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533888" y="2633472"/>
            <a:ext cx="402336" cy="402336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32" name="Text 29"/>
          <p:cNvSpPr/>
          <p:nvPr/>
        </p:nvSpPr>
        <p:spPr>
          <a:xfrm>
            <a:off x="10533888" y="263347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980676" y="3154680"/>
            <a:ext cx="150876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Dataset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Export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Step 1: Data Collection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737360"/>
            <a:ext cx="521208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lnSpc>
                <a:spcPct val="125000"/>
              </a:lnSpc>
              <a:spcAft>
                <a:spcPts val="2000"/>
              </a:spcAft>
              <a:buSzPct val="100000"/>
              <a:buFont typeface="Wingdings" panose="05000000000000000000" charset="0"/>
              <a:buChar char="v"/>
            </a:pPr>
            <a:r>
              <a:rPr lang="en-US" sz="18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Handwritten digits are written on fixed-grid sheets by different people.</a:t>
            </a:r>
            <a:endParaRPr lang="en-US" sz="1800" dirty="0"/>
          </a:p>
          <a:p>
            <a:pPr marL="285750" indent="-285750">
              <a:lnSpc>
                <a:spcPct val="125000"/>
              </a:lnSpc>
              <a:spcAft>
                <a:spcPts val="2000"/>
              </a:spcAft>
              <a:buSzPct val="100000"/>
              <a:buFont typeface="Wingdings" panose="05000000000000000000" charset="0"/>
              <a:buChar char="v"/>
            </a:pPr>
            <a:r>
              <a:rPr lang="en-US" sz="18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Each sheet is scanned/photographed as a single image.</a:t>
            </a:r>
            <a:endParaRPr lang="en-US" sz="1800" dirty="0"/>
          </a:p>
          <a:p>
            <a:pPr marL="285750" indent="-285750">
              <a:lnSpc>
                <a:spcPct val="125000"/>
              </a:lnSpc>
              <a:spcAft>
                <a:spcPts val="2000"/>
              </a:spcAft>
              <a:buSzPct val="100000"/>
              <a:buFont typeface="Wingdings" panose="05000000000000000000" charset="0"/>
              <a:buChar char="v"/>
            </a:pPr>
            <a:r>
              <a:rPr lang="en-US" sz="18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Digits follow a repeating 0–9 pattern across each row.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92240" y="1600200"/>
            <a:ext cx="5074920" cy="45720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7" name="Image 1" descr="assets/original_shee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1737360"/>
            <a:ext cx="3200400" cy="420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2240" y="5989320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Step 2: Grid-Based Digit Extraction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737360"/>
            <a:ext cx="548640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2000"/>
              </a:spcAft>
              <a:buSzPct val="100000"/>
              <a:buChar char="●"/>
            </a:pPr>
            <a:r>
              <a:rPr lang="en-US" sz="17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image is thresholded, then vertical and horizontal grid lines are detected.</a:t>
            </a:r>
            <a:endParaRPr lang="en-US" sz="1750" dirty="0"/>
          </a:p>
          <a:p>
            <a:pPr marL="228600" indent="-228600">
              <a:lnSpc>
                <a:spcPct val="125000"/>
              </a:lnSpc>
              <a:spcAft>
                <a:spcPts val="2000"/>
              </a:spcAft>
              <a:buSzPct val="100000"/>
              <a:buChar char="●"/>
            </a:pPr>
            <a:r>
              <a:rPr lang="en-US" sz="17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Morphological filtering isolates clean straight lines from the digit strokes.</a:t>
            </a:r>
            <a:endParaRPr lang="en-US" sz="1750" dirty="0"/>
          </a:p>
          <a:p>
            <a:pPr marL="228600" indent="-228600">
              <a:lnSpc>
                <a:spcPct val="125000"/>
              </a:lnSpc>
              <a:spcAft>
                <a:spcPts val="2000"/>
              </a:spcAft>
              <a:buSzPct val="100000"/>
              <a:buChar char="●"/>
            </a:pPr>
            <a:r>
              <a:rPr lang="en-US" sz="17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Line intersections mark cell boundaries, which are used to crop each digit.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400800" y="1600200"/>
            <a:ext cx="233172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7" name="Image 1" descr="assets/vertical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205740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0" y="4114800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Vertical lines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8915400" y="1600200"/>
            <a:ext cx="233172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0" name="Image 2" descr="assets/horizontal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737360"/>
            <a:ext cx="2057400" cy="23317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15400" y="4114800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Horizontal lines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400800" y="4572000"/>
            <a:ext cx="4846320" cy="16002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3" name="Image 3" descr="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663440"/>
            <a:ext cx="1018581" cy="1417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78240" y="4983480"/>
            <a:ext cx="2331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Combined grid used to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locate each digit cell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Step 3: Labeling Scheme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91640"/>
            <a:ext cx="107899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Digits repeat in a fixed order on each sheet: </a:t>
            </a:r>
            <a:r>
              <a:rPr lang="en-US" sz="1800" b="1" dirty="0">
                <a:solidFill>
                  <a:srgbClr val="2F528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 to 9</a:t>
            </a:r>
            <a:r>
              <a:rPr lang="en-US" sz="18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, so a cropped cell's position (mod 10) gives its label.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2514600"/>
            <a:ext cx="105156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51460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3063240"/>
            <a:ext cx="105156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06324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०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737360" y="2514600"/>
            <a:ext cx="105156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37360" y="251460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737360" y="3063240"/>
            <a:ext cx="105156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37360" y="306324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१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788920" y="2514600"/>
            <a:ext cx="105156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88920" y="251460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788920" y="3063240"/>
            <a:ext cx="105156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88920" y="306324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२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840480" y="2514600"/>
            <a:ext cx="105156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0" y="251460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40480" y="3063240"/>
            <a:ext cx="105156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0" y="306324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३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892040" y="2514600"/>
            <a:ext cx="105156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251460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892040" y="3063240"/>
            <a:ext cx="105156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306324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४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943600" y="2514600"/>
            <a:ext cx="105156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0" y="251460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43600" y="3063240"/>
            <a:ext cx="105156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0" y="306324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५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6995160" y="2514600"/>
            <a:ext cx="105156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95160" y="251460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995160" y="3063240"/>
            <a:ext cx="105156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95160" y="306324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६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8046720" y="2514600"/>
            <a:ext cx="105156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046720" y="251460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046720" y="3063240"/>
            <a:ext cx="105156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46720" y="306324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७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9098280" y="2514600"/>
            <a:ext cx="105156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098280" y="251460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098280" y="3063240"/>
            <a:ext cx="105156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098280" y="306324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८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0149840" y="2514600"/>
            <a:ext cx="105156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149840" y="251460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9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0149840" y="3063240"/>
            <a:ext cx="105156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49840" y="306324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९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685800" y="3977640"/>
            <a:ext cx="106070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Dataset Overview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916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Sample raw extracted cells (digits 0–9 from one group):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" y="2103120"/>
            <a:ext cx="10835640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7" name="Image 1" descr="assets/raw_digits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76272"/>
            <a:ext cx="10561320" cy="768096"/>
          </a:xfrm>
          <a:prstGeom prst="rect">
            <a:avLst/>
          </a:prstGeom>
        </p:spPr>
      </p:pic>
      <p:sp>
        <p:nvSpPr>
          <p:cNvPr id="8" name="Shape 4"/>
          <p:cNvSpPr/>
          <p:nvPr>
            <p:custDataLst>
              <p:tags r:id="rId3"/>
            </p:custDataLst>
          </p:nvPr>
        </p:nvSpPr>
        <p:spPr>
          <a:xfrm>
            <a:off x="685800" y="3291840"/>
            <a:ext cx="3474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5"/>
          <p:cNvSpPr/>
          <p:nvPr>
            <p:custDataLst>
              <p:tags r:id="rId4"/>
            </p:custDataLst>
          </p:nvPr>
        </p:nvSpPr>
        <p:spPr>
          <a:xfrm>
            <a:off x="685800" y="33375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540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685800" y="37947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total digit images</a:t>
            </a:r>
            <a:endParaRPr lang="en-US" sz="1200" dirty="0"/>
          </a:p>
        </p:txBody>
      </p:sp>
      <p:sp>
        <p:nvSpPr>
          <p:cNvPr id="11" name="Shape 7"/>
          <p:cNvSpPr/>
          <p:nvPr>
            <p:custDataLst>
              <p:tags r:id="rId6"/>
            </p:custDataLst>
          </p:nvPr>
        </p:nvSpPr>
        <p:spPr>
          <a:xfrm>
            <a:off x="4343400" y="3291840"/>
            <a:ext cx="3474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8"/>
          <p:cNvSpPr/>
          <p:nvPr>
            <p:custDataLst>
              <p:tags r:id="rId7"/>
            </p:custDataLst>
          </p:nvPr>
        </p:nvSpPr>
        <p:spPr>
          <a:xfrm>
            <a:off x="4343400" y="33375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54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8"/>
            </p:custDataLst>
          </p:nvPr>
        </p:nvSpPr>
        <p:spPr>
          <a:xfrm>
            <a:off x="4343400" y="37947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samples per digit</a:t>
            </a:r>
            <a:endParaRPr lang="en-US" sz="1200" dirty="0"/>
          </a:p>
        </p:txBody>
      </p:sp>
      <p:sp>
        <p:nvSpPr>
          <p:cNvPr id="14" name="Shape 10"/>
          <p:cNvSpPr/>
          <p:nvPr>
            <p:custDataLst>
              <p:tags r:id="rId9"/>
            </p:custDataLst>
          </p:nvPr>
        </p:nvSpPr>
        <p:spPr>
          <a:xfrm>
            <a:off x="8001000" y="3291840"/>
            <a:ext cx="3474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1"/>
          <p:cNvSpPr/>
          <p:nvPr>
            <p:custDataLst>
              <p:tags r:id="rId10"/>
            </p:custDataLst>
          </p:nvPr>
        </p:nvSpPr>
        <p:spPr>
          <a:xfrm>
            <a:off x="8001000" y="33375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54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16" name="Text 12"/>
          <p:cNvSpPr/>
          <p:nvPr>
            <p:custDataLst>
              <p:tags r:id="rId11"/>
            </p:custDataLst>
          </p:nvPr>
        </p:nvSpPr>
        <p:spPr>
          <a:xfrm>
            <a:off x="8001000" y="37947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sample groups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5800" y="4572000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Step 4: Image Preprocessing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0020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Every cropped digit passes through six cleaning and normalization stages: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8076" y="2286000"/>
            <a:ext cx="1691640" cy="1234440"/>
          </a:xfrm>
          <a:prstGeom prst="roundRect">
            <a:avLst>
              <a:gd name="adj" fmla="val 5185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" y="2286000"/>
            <a:ext cx="16916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Grayscale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325880" y="2130552"/>
            <a:ext cx="256032" cy="256032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9" name="Text 6"/>
          <p:cNvSpPr/>
          <p:nvPr/>
        </p:nvSpPr>
        <p:spPr>
          <a:xfrm>
            <a:off x="1325880" y="213055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99716" y="272034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64308" y="2286000"/>
            <a:ext cx="1691640" cy="1234440"/>
          </a:xfrm>
          <a:prstGeom prst="roundRect">
            <a:avLst>
              <a:gd name="adj" fmla="val 5185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4308" y="2286000"/>
            <a:ext cx="16916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Gaussian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blur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182112" y="2130552"/>
            <a:ext cx="256032" cy="256032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14" name="Text 11"/>
          <p:cNvSpPr/>
          <p:nvPr/>
        </p:nvSpPr>
        <p:spPr>
          <a:xfrm>
            <a:off x="3182112" y="213055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55948" y="272034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20540" y="2286000"/>
            <a:ext cx="1691640" cy="1234440"/>
          </a:xfrm>
          <a:prstGeom prst="roundRect">
            <a:avLst>
              <a:gd name="adj" fmla="val 5185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20540" y="2286000"/>
            <a:ext cx="16916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Otsu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threshold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38344" y="2130552"/>
            <a:ext cx="256032" cy="256032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19" name="Text 16"/>
          <p:cNvSpPr/>
          <p:nvPr/>
        </p:nvSpPr>
        <p:spPr>
          <a:xfrm>
            <a:off x="5038344" y="213055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12180" y="272034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6772" y="2286000"/>
            <a:ext cx="1691640" cy="1234440"/>
          </a:xfrm>
          <a:prstGeom prst="roundRect">
            <a:avLst>
              <a:gd name="adj" fmla="val 5185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6772" y="2286000"/>
            <a:ext cx="16916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Remove grid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lines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894576" y="2130552"/>
            <a:ext cx="256032" cy="256032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24" name="Text 21"/>
          <p:cNvSpPr/>
          <p:nvPr/>
        </p:nvSpPr>
        <p:spPr>
          <a:xfrm>
            <a:off x="6894576" y="213055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868412" y="272034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033004" y="2286000"/>
            <a:ext cx="1691640" cy="1234440"/>
          </a:xfrm>
          <a:prstGeom prst="roundRect">
            <a:avLst>
              <a:gd name="adj" fmla="val 5185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33004" y="2286000"/>
            <a:ext cx="16916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Remove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noise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750808" y="2130552"/>
            <a:ext cx="256032" cy="256032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29" name="Text 26"/>
          <p:cNvSpPr/>
          <p:nvPr/>
        </p:nvSpPr>
        <p:spPr>
          <a:xfrm>
            <a:off x="8750808" y="213055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724644" y="272034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889236" y="2286000"/>
            <a:ext cx="1691640" cy="1234440"/>
          </a:xfrm>
          <a:prstGeom prst="roundRect">
            <a:avLst>
              <a:gd name="adj" fmla="val 5185"/>
            </a:avLst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89236" y="2286000"/>
            <a:ext cx="16916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Crop &amp; center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28×28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10607040" y="2130552"/>
            <a:ext cx="256032" cy="256032"/>
          </a:xfrm>
          <a:prstGeom prst="ellipse">
            <a:avLst/>
          </a:prstGeom>
          <a:solidFill>
            <a:srgbClr val="4472C4"/>
          </a:solidFill>
        </p:spPr>
      </p:sp>
      <p:sp>
        <p:nvSpPr>
          <p:cNvPr id="34" name="Text 31"/>
          <p:cNvSpPr/>
          <p:nvPr/>
        </p:nvSpPr>
        <p:spPr>
          <a:xfrm>
            <a:off x="10607040" y="213055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Preprocessing — Visual Result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916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Each stage applied to one sample digit: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2148840"/>
            <a:ext cx="1083564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7" name="Image 1" descr="assets/preprocess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20" y="2834640"/>
            <a:ext cx="822960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5074920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Left to right: grayscale → blur → threshold → lines removed → noise removed → normalized.</a:t>
            </a:r>
            <a:endParaRPr lang="en-US" sz="1600" dirty="0">
              <a:solidFill>
                <a:schemeClr val="tx1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Step 5: Feature Extraction — Overview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00200"/>
            <a:ext cx="1060704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Each normalized digit is converted into a set of numeric features.</a:t>
            </a:r>
            <a:endParaRPr lang="en-US" sz="2000" dirty="0"/>
          </a:p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Two feature types are extracted: handcrafted shape features and HOG features.</a:t>
            </a:r>
            <a:endParaRPr lang="en-US" sz="2000" dirty="0"/>
          </a:p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Handcrafted features describe structure; HOG features describe stroke direction.</a:t>
            </a:r>
            <a:endParaRPr lang="en-US" sz="2000" dirty="0"/>
          </a:p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Both feature sets are combined into a single dataset for flexibility.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HOG Features — Concept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00200"/>
            <a:ext cx="1060704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HOG (Histogram of Oriented Gradients) captures local edge direction and stroke shape.</a:t>
            </a:r>
            <a:endParaRPr lang="en-US" sz="2000" dirty="0"/>
          </a:p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Each 28×28 digit is resized to 32×32 before extraction.</a:t>
            </a:r>
            <a:endParaRPr lang="en-US" sz="2000" dirty="0"/>
          </a:p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Settings used: 9 orientation bins, 8×8 pixel cells, 2×2 cell blocks, L2-Hys normalization.</a:t>
            </a:r>
            <a:endParaRPr lang="en-US" sz="2000" dirty="0"/>
          </a:p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This produces a 324-dimensional feature vector per digit.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HOG Features — Visualization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51760" y="1691640"/>
            <a:ext cx="6858000" cy="3931920"/>
          </a:xfrm>
          <a:prstGeom prst="rect">
            <a:avLst/>
          </a:prstGeom>
          <a:solidFill>
            <a:srgbClr val="F5F7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651760" y="1828800"/>
            <a:ext cx="6858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Normalized digit  →  HOG gradient map</a:t>
            </a:r>
            <a:endParaRPr lang="en-US" sz="1500" dirty="0"/>
          </a:p>
        </p:txBody>
      </p:sp>
      <p:pic>
        <p:nvPicPr>
          <p:cNvPr id="7" name="Image 1" descr="assets/hog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286000"/>
            <a:ext cx="2194560" cy="2194560"/>
          </a:xfrm>
          <a:prstGeom prst="rect">
            <a:avLst/>
          </a:prstGeom>
        </p:spPr>
      </p:pic>
      <p:pic>
        <p:nvPicPr>
          <p:cNvPr id="8" name="Image 2" descr="assets/hog_v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286000"/>
            <a:ext cx="2194560" cy="21945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83280" y="452628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Input digit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309360" y="452628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Gradient orientation map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2651760" y="49377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528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324 HOG features per digit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Final Feature Datasets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459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All extracted features are exported to CSV files: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2194560"/>
            <a:ext cx="3017520" cy="594360"/>
          </a:xfrm>
          <a:prstGeom prst="rect">
            <a:avLst/>
          </a:prstGeom>
          <a:solidFill>
            <a:srgbClr val="4472C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9456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Dataset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03320" y="2194560"/>
            <a:ext cx="5486400" cy="594360"/>
          </a:xfrm>
          <a:prstGeom prst="rect">
            <a:avLst/>
          </a:prstGeom>
          <a:solidFill>
            <a:srgbClr val="4472C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2194560"/>
            <a:ext cx="5212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Contents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89720" y="2194560"/>
            <a:ext cx="2331720" cy="594360"/>
          </a:xfrm>
          <a:prstGeom prst="rect">
            <a:avLst/>
          </a:prstGeom>
          <a:solidFill>
            <a:srgbClr val="4472C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0" y="2194560"/>
            <a:ext cx="2057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Shape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2788920"/>
            <a:ext cx="30175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78892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Basic Features</a:t>
            </a:r>
            <a:endParaRPr lang="en-US" sz="1350" dirty="0"/>
          </a:p>
        </p:txBody>
      </p:sp>
      <p:sp>
        <p:nvSpPr>
          <p:cNvPr id="14" name="Shape 11"/>
          <p:cNvSpPr/>
          <p:nvPr>
            <p:custDataLst>
              <p:tags r:id="rId2"/>
            </p:custDataLst>
          </p:nvPr>
        </p:nvSpPr>
        <p:spPr>
          <a:xfrm>
            <a:off x="3703320" y="2788920"/>
            <a:ext cx="54864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3"/>
            </p:custDataLst>
          </p:nvPr>
        </p:nvSpPr>
        <p:spPr>
          <a:xfrm>
            <a:off x="3840480" y="2788920"/>
            <a:ext cx="5212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19 handcrafted shape/structure features</a:t>
            </a:r>
            <a:endParaRPr lang="en-US" sz="1350" dirty="0"/>
          </a:p>
        </p:txBody>
      </p:sp>
      <p:sp>
        <p:nvSpPr>
          <p:cNvPr id="16" name="Shape 13"/>
          <p:cNvSpPr/>
          <p:nvPr>
            <p:custDataLst>
              <p:tags r:id="rId4"/>
            </p:custDataLst>
          </p:nvPr>
        </p:nvSpPr>
        <p:spPr>
          <a:xfrm>
            <a:off x="9189720" y="2788920"/>
            <a:ext cx="23317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5"/>
            </p:custDataLst>
          </p:nvPr>
        </p:nvSpPr>
        <p:spPr>
          <a:xfrm>
            <a:off x="9326880" y="2788920"/>
            <a:ext cx="2057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540 × 24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85800" y="3383280"/>
            <a:ext cx="3017520" cy="59436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38328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HOG Features</a:t>
            </a:r>
            <a:endParaRPr lang="en-US" sz="1350" dirty="0"/>
          </a:p>
        </p:txBody>
      </p:sp>
      <p:sp>
        <p:nvSpPr>
          <p:cNvPr id="20" name="Shape 17"/>
          <p:cNvSpPr/>
          <p:nvPr>
            <p:custDataLst>
              <p:tags r:id="rId6"/>
            </p:custDataLst>
          </p:nvPr>
        </p:nvSpPr>
        <p:spPr>
          <a:xfrm>
            <a:off x="3703320" y="3383280"/>
            <a:ext cx="5486400" cy="59436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>
            <p:custDataLst>
              <p:tags r:id="rId7"/>
            </p:custDataLst>
          </p:nvPr>
        </p:nvSpPr>
        <p:spPr>
          <a:xfrm>
            <a:off x="3840480" y="3383280"/>
            <a:ext cx="5212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324-dim gradient-based features</a:t>
            </a:r>
            <a:endParaRPr lang="en-US" sz="1350" dirty="0"/>
          </a:p>
        </p:txBody>
      </p:sp>
      <p:sp>
        <p:nvSpPr>
          <p:cNvPr id="22" name="Shape 19"/>
          <p:cNvSpPr/>
          <p:nvPr>
            <p:custDataLst>
              <p:tags r:id="rId8"/>
            </p:custDataLst>
          </p:nvPr>
        </p:nvSpPr>
        <p:spPr>
          <a:xfrm>
            <a:off x="9189720" y="3383280"/>
            <a:ext cx="2331720" cy="59436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0"/>
          <p:cNvSpPr/>
          <p:nvPr>
            <p:custDataLst>
              <p:tags r:id="rId9"/>
            </p:custDataLst>
          </p:nvPr>
        </p:nvSpPr>
        <p:spPr>
          <a:xfrm>
            <a:off x="9326880" y="3383280"/>
            <a:ext cx="2057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540 × 329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85800" y="3977640"/>
            <a:ext cx="30175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9776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Combined</a:t>
            </a:r>
            <a:endParaRPr lang="en-US" sz="1350" dirty="0"/>
          </a:p>
        </p:txBody>
      </p:sp>
      <p:sp>
        <p:nvSpPr>
          <p:cNvPr id="26" name="Shape 23"/>
          <p:cNvSpPr/>
          <p:nvPr>
            <p:custDataLst>
              <p:tags r:id="rId10"/>
            </p:custDataLst>
          </p:nvPr>
        </p:nvSpPr>
        <p:spPr>
          <a:xfrm>
            <a:off x="3703320" y="3977640"/>
            <a:ext cx="54864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>
            <p:custDataLst>
              <p:tags r:id="rId11"/>
            </p:custDataLst>
          </p:nvPr>
        </p:nvSpPr>
        <p:spPr>
          <a:xfrm>
            <a:off x="3840480" y="3977640"/>
            <a:ext cx="5212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Basic + HOG features together</a:t>
            </a:r>
            <a:endParaRPr lang="en-US" sz="1350" dirty="0"/>
          </a:p>
        </p:txBody>
      </p:sp>
      <p:sp>
        <p:nvSpPr>
          <p:cNvPr id="28" name="Shape 25"/>
          <p:cNvSpPr/>
          <p:nvPr>
            <p:custDataLst>
              <p:tags r:id="rId12"/>
            </p:custDataLst>
          </p:nvPr>
        </p:nvSpPr>
        <p:spPr>
          <a:xfrm>
            <a:off x="9189720" y="3977640"/>
            <a:ext cx="23317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6"/>
          <p:cNvSpPr/>
          <p:nvPr>
            <p:custDataLst>
              <p:tags r:id="rId13"/>
            </p:custDataLst>
          </p:nvPr>
        </p:nvSpPr>
        <p:spPr>
          <a:xfrm>
            <a:off x="9326880" y="3977640"/>
            <a:ext cx="2057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540 × 348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85800" y="4572000"/>
            <a:ext cx="3017520" cy="59436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457200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Raw Pixels</a:t>
            </a:r>
            <a:endParaRPr lang="en-US" sz="1350" dirty="0"/>
          </a:p>
        </p:txBody>
      </p:sp>
      <p:sp>
        <p:nvSpPr>
          <p:cNvPr id="32" name="Shape 29"/>
          <p:cNvSpPr/>
          <p:nvPr>
            <p:custDataLst>
              <p:tags r:id="rId14"/>
            </p:custDataLst>
          </p:nvPr>
        </p:nvSpPr>
        <p:spPr>
          <a:xfrm>
            <a:off x="3703320" y="4572000"/>
            <a:ext cx="5486400" cy="59436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0"/>
          <p:cNvSpPr/>
          <p:nvPr>
            <p:custDataLst>
              <p:tags r:id="rId15"/>
            </p:custDataLst>
          </p:nvPr>
        </p:nvSpPr>
        <p:spPr>
          <a:xfrm>
            <a:off x="3840480" y="4572000"/>
            <a:ext cx="5212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Flattened 28×28 normalized pixels</a:t>
            </a:r>
            <a:endParaRPr lang="en-US" sz="1350" dirty="0"/>
          </a:p>
        </p:txBody>
      </p:sp>
      <p:sp>
        <p:nvSpPr>
          <p:cNvPr id="34" name="Shape 31"/>
          <p:cNvSpPr/>
          <p:nvPr>
            <p:custDataLst>
              <p:tags r:id="rId16"/>
            </p:custDataLst>
          </p:nvPr>
        </p:nvSpPr>
        <p:spPr>
          <a:xfrm>
            <a:off x="9189720" y="4572000"/>
            <a:ext cx="2331720" cy="594360"/>
          </a:xfrm>
          <a:prstGeom prst="rect">
            <a:avLst/>
          </a:prstGeom>
          <a:solidFill>
            <a:srgbClr val="F5F7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Text 32"/>
          <p:cNvSpPr/>
          <p:nvPr>
            <p:custDataLst>
              <p:tags r:id="rId17"/>
            </p:custDataLst>
          </p:nvPr>
        </p:nvSpPr>
        <p:spPr>
          <a:xfrm>
            <a:off x="9326880" y="4572000"/>
            <a:ext cx="2057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540 × 789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Conclusion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00200"/>
            <a:ext cx="1060704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complete pipeline was built: </a:t>
            </a:r>
            <a:endParaRPr lang="en-US" sz="2000" dirty="0">
              <a:solidFill>
                <a:srgbClr val="1A1A1A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indent="0" algn="ctr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extraction → labeling → preprocessing → feature extraction.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540 handwritten Nepali digit samples were processed across 10 balanced classes.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Four ready-to-use feature datasets were generated for future model training.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960120"/>
          </a:xfrm>
          <a:prstGeom prst="roundRect">
            <a:avLst>
              <a:gd name="adj" fmla="val 8571"/>
            </a:avLst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7782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Future Work</a:t>
            </a:r>
            <a:endParaRPr lang="en-US" sz="3000" dirty="0"/>
          </a:p>
        </p:txBody>
      </p:sp>
      <p:pic>
        <p:nvPicPr>
          <p:cNvPr id="4" name="Image 0" descr="assets/eec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8490" y="365760"/>
            <a:ext cx="677542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00200"/>
            <a:ext cx="1060704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Train and compare classifiers such as KNN, SVM and CNN on the extracted features.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Expand the dataset with more writers and samples for better generalization.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2200"/>
              </a:spcAft>
              <a:buSzPct val="100000"/>
              <a:buFont typeface="Wingdings" panose="05000000000000000000" charset="0"/>
              <a:buChar char="v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Explore deep-learning-based end-to-end digit recognition.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3048000" y="1443990"/>
            <a:ext cx="7186295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endParaRPr lang="en-GB" sz="6000" b="1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 marL="0" indent="0" algn="ctr">
              <a:buNone/>
            </a:pPr>
            <a:r>
              <a:rPr lang="en-GB" sz="9600" b="1">
                <a:latin typeface="Times New Roman" panose="02020603050405020304"/>
                <a:ea typeface="Calibri" panose="020F0502020204030204"/>
                <a:cs typeface="Times New Roman" panose="02020603050405020304"/>
                <a:sym typeface="+mn-ea"/>
              </a:rPr>
              <a:t>Thank You !</a:t>
            </a:r>
            <a:endParaRPr lang="en-GB" altLang="en-US" sz="9600" b="1">
              <a:latin typeface="Times New Roman" panose="02020603050405020304"/>
              <a:ea typeface="Calibri" panose="020F05020202040302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5.6,&quot;left&quot;:54,&quot;top&quot;:259.2,&quot;width&quot;:849.6}"/>
</p:tagLst>
</file>

<file path=ppt/tags/tag2.xml><?xml version="1.0" encoding="utf-8"?>
<p:tagLst xmlns:p="http://schemas.openxmlformats.org/presentationml/2006/main">
  <p:tag name="KSO_WM_DIAGRAM_VIRTUALLY_FRAME" val="{&quot;height&quot;:75.6,&quot;left&quot;:54,&quot;top&quot;:259.2,&quot;width&quot;:849.6}"/>
</p:tagLst>
</file>

<file path=ppt/tags/tag3.xml><?xml version="1.0" encoding="utf-8"?>
<p:tagLst xmlns:p="http://schemas.openxmlformats.org/presentationml/2006/main">
  <p:tag name="KSO_WM_DIAGRAM_VIRTUALLY_FRAME" val="{&quot;height&quot;:75.6,&quot;left&quot;:54,&quot;top&quot;:259.2,&quot;width&quot;:849.6}"/>
</p:tagLst>
</file>

<file path=ppt/tags/tag4.xml><?xml version="1.0" encoding="utf-8"?>
<p:tagLst xmlns:p="http://schemas.openxmlformats.org/presentationml/2006/main">
  <p:tag name="KSO_WM_DIAGRAM_VIRTUALLY_FRAME" val="{&quot;height&quot;:75.6,&quot;left&quot;:54,&quot;top&quot;:259.2,&quot;width&quot;:849.6}"/>
</p:tagLst>
</file>

<file path=ppt/tags/tag5.xml><?xml version="1.0" encoding="utf-8"?>
<p:tagLst xmlns:p="http://schemas.openxmlformats.org/presentationml/2006/main">
  <p:tag name="KSO_WM_DIAGRAM_VIRTUALLY_FRAME" val="{&quot;height&quot;:75.6,&quot;left&quot;:54,&quot;top&quot;:259.2,&quot;width&quot;:849.6}"/>
</p:tagLst>
</file>

<file path=ppt/tags/tag6.xml><?xml version="1.0" encoding="utf-8"?>
<p:tagLst xmlns:p="http://schemas.openxmlformats.org/presentationml/2006/main">
  <p:tag name="KSO_WM_DIAGRAM_VIRTUALLY_FRAME" val="{&quot;height&quot;:75.6,&quot;left&quot;:54,&quot;top&quot;:259.2,&quot;width&quot;:849.6}"/>
</p:tagLst>
</file>

<file path=ppt/tags/tag7.xml><?xml version="1.0" encoding="utf-8"?>
<p:tagLst xmlns:p="http://schemas.openxmlformats.org/presentationml/2006/main">
  <p:tag name="KSO_WM_DIAGRAM_VIRTUALLY_FRAME" val="{&quot;height&quot;:75.6,&quot;left&quot;:54,&quot;top&quot;:259.2,&quot;width&quot;:849.6}"/>
</p:tagLst>
</file>

<file path=ppt/tags/tag8.xml><?xml version="1.0" encoding="utf-8"?>
<p:tagLst xmlns:p="http://schemas.openxmlformats.org/presentationml/2006/main">
  <p:tag name="KSO_WM_DIAGRAM_VIRTUALLY_FRAME" val="{&quot;height&quot;:75.6,&quot;left&quot;:54,&quot;top&quot;:259.2,&quot;width&quot;:849.6}"/>
</p:tagLst>
</file>

<file path=ppt/tags/tag9.xml><?xml version="1.0" encoding="utf-8"?>
<p:tagLst xmlns:p="http://schemas.openxmlformats.org/presentationml/2006/main">
  <p:tag name="KSO_WM_DIAGRAM_VIRTUALLY_FRAME" val="{&quot;height&quot;:75.6,&quot;left&quot;:54,&quot;top&quot;:259.2,&quot;width&quot;:849.6}"/>
</p:tagLst>
</file>

<file path=ppt/tags/tag10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11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12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13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14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15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16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17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18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19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20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21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22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23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24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ags/tag25.xml><?xml version="1.0" encoding="utf-8"?>
<p:tagLst xmlns:p="http://schemas.openxmlformats.org/presentationml/2006/main">
  <p:tag name="KSO_WM_DIAGRAM_VIRTUALLY_FRAME" val="{&quot;height&quot;:187.2,&quot;left&quot;:291.6,&quot;top&quot;:219.6,&quot;width&quot;:61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3651</Words>
  <Application>WPS Presentation</Application>
  <PresentationFormat>On-screen Show (16:9)</PresentationFormat>
  <Paragraphs>302</Paragraphs>
  <Slides>17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Times New Roman</vt:lpstr>
      <vt:lpstr>Times New Roman</vt:lpstr>
      <vt:lpstr>Calibri</vt:lpstr>
      <vt:lpstr>Microsoft YaHei</vt:lpstr>
      <vt:lpstr>Arial Unicode MS</vt:lpstr>
      <vt:lpstr>Wingdings</vt:lpstr>
      <vt:lpstr>Times New Roman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Asus</cp:lastModifiedBy>
  <cp:revision>7</cp:revision>
  <dcterms:created xsi:type="dcterms:W3CDTF">2026-07-22T04:59:00Z</dcterms:created>
  <dcterms:modified xsi:type="dcterms:W3CDTF">2026-07-23T03:09:15Z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4C29E0B3EB094C55B32A027196ED8600_13</vt:lpwstr>
  </property>
  <property fmtid="{D5CDD505-2E9C-101B-9397-08002B2CF9AE}" pid="3" name="KSOProductBuildVer">
    <vt:lpwstr>2057-12.2.0.23206</vt:lpwstr>
  </property>
</Properties>
</file>